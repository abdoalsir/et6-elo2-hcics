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1E40AF"/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F9EBA-E4C1-4F50-965C-92328292065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1EE98-8717-4D56-8024-AC95BB94C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63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1E40AF"/>
            </a:gs>
            <a:gs pos="10000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6756-AFA3-BD04-59EF-1BEA2B800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56E5A-6392-D8E5-97D7-01BFC5B78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21C91-0804-7675-CC0D-A3169938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EAB2-FF25-4093-AB36-60135CDFE685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B242C-C291-F4C3-7FBD-090D47B5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F1BD0-4BF9-3D9C-A8ED-18FB3C5B4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9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D2EE2-48FD-440F-389B-8D699871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5EE87-3903-85C8-88DF-DEFC21310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6382F-48FA-7E5D-EC29-3F07AA7E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B575-320D-417F-B42C-7CDAC6F80BE9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09373-ACBC-DB2D-E114-37C3B04A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B74-5356-E8F6-BC71-C83CBF51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4DA4-1C6D-7BB3-E467-3F5FEA46E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E045F-C82F-5E4D-9779-00D9062DE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429D3-E2BA-31D5-C755-FF4DEFD1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044-AA9F-454F-9409-7FCE4B51C96F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AF1E1-D4F6-CB97-EE83-9E1C90E3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5A7CF-02FC-D245-0829-E3CC226F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1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8CD3-06BD-02AB-B166-6BDD662A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1E9B1-C61D-F168-E754-8EC87BF0D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0D113-04C2-380A-E43B-FA7C4E850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1BAF3-16EC-142A-590F-DD1F2961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ED52-1D97-4162-A20B-F2E89ED70C7E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0C0DA-4192-26BE-7686-E0D166C9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B397D-B2AB-D1F2-0C57-36696B4D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A174-EDC2-01E2-0A73-B0967532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869E7-FE90-4647-2114-BE7BECC6D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BFCE4-008A-640A-AB8B-9626A8D73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48D5F-A3F9-2239-C5A6-D1C0E485D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BC471-1FD3-DCF8-26CD-FD9C649E7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95997-BEB0-A038-EE39-1455C28A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669B-D651-448F-95A4-06F955DC79A6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331FC-794F-2802-191C-F1480648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D5184-7C80-D4C2-1526-364B9129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0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160A-828D-4DCD-1E0A-70ACEE17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6C6E4-CC55-1C8F-4879-264E9212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5B4E0-EC4D-498C-9580-CE3C9252C125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C7532-5BD3-9CF1-E3E1-F17F06011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E8EA7-3091-006B-05C3-BD7A76E0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5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3C7F9-74C3-D55D-F749-7DFED00D6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F752-5DF1-48D8-8DB4-CB6EE89010D1}" type="datetime1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FB770-78B3-90CF-B25D-D14A7792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E58EA-C809-5C8A-7CCB-977FE431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1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7484-9C55-181D-D4AD-1EB34103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C6A94-8033-764B-7379-825406A6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7FB1A-EBC1-2CD5-62A9-1402DBE55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A8F6F-2CE3-8578-FBA7-0B96A519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CC625-F8A5-4646-91A2-6A5F4814EC0C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43137-C321-423E-6F09-1F4D9A05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DAAAB-19D7-26FF-2475-AAE4A03B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8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4739-03A1-CA3C-E7C6-369467A5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83753-D2E7-4271-3B31-F6D9F10EC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07D8D-89ED-357B-9EAE-295C20255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2EA0E-742C-9B7E-EE80-9ECF8869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3AD99-D0C6-4531-9239-3736AD61331E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6372A-5470-C742-D205-152C3CC1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71C2F-C461-CE97-12E9-C660161C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8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FC8B-E64B-D5DB-6591-C72D0157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B95AE-8F4A-1FB3-30EE-A91E57BF3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E54F8-C4DE-AB7E-01A8-B43B59FF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9A07-954E-4639-9D9F-12E402CDBBC1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2EE60-F607-C41C-CA81-8A45CC89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EE215-2ED9-3D5C-D093-0BAF64A4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8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825F1-87C6-E2CB-9B57-3B492F08D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6D192-634B-7F8F-F539-052B2328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8B30D-89E7-4FFA-2E2A-6099BBF5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FEA9-C8D2-4986-995E-ACCFFFB0DD5B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F3095-9C03-14CB-F8DE-8AEB36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A1F04-98A1-631A-A07D-0A6D2744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6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F1F383-5827-709A-1A16-8C70356E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018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98EBA-CAE4-A1AA-42A9-CC4FCF25F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4018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8CF33-CC75-0404-5434-F58B2F16C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4CD47-A344-4DF3-8455-D48ABF7788F7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1639-7FC5-FEB7-4C76-017251BE3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BFB3D-186E-D431-9538-B6DEDF9B8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CE215-56CB-44C9-AFFD-7788C360CC1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A2E656-1486-DBB7-DF01-AE002F6EFDC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1" t="22308" r="22333" b="20092"/>
          <a:stretch>
            <a:fillRect/>
          </a:stretch>
        </p:blipFill>
        <p:spPr>
          <a:xfrm>
            <a:off x="11353800" y="136525"/>
            <a:ext cx="780757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4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bdoalsir/ET6-ELO2-HCIC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bdulrahman-sirelkhatim-18585b22a" TargetMode="External"/><Relationship Id="rId2" Type="http://schemas.openxmlformats.org/officeDocument/2006/relationships/hyperlink" Target="mailto:abdulrahmanalsir4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abdoalsir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4CB-471E-B700-B4D8-D2E7A6BFB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7412"/>
            <a:ext cx="9144000" cy="2387600"/>
          </a:xfrm>
        </p:spPr>
        <p:txBody>
          <a:bodyPr>
            <a:noAutofit/>
          </a:bodyPr>
          <a:lstStyle/>
          <a:p>
            <a:r>
              <a:rPr lang="fr-FR" sz="4800" dirty="0"/>
              <a:t>Humanitarian Crisis Intelligence &amp; Communication System (HCICS)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916F9-D20E-42BD-3900-0B40B7151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58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Geospatial Analysis of IDP Vulnerability in Sudan</a:t>
            </a:r>
          </a:p>
          <a:p>
            <a:r>
              <a:rPr lang="en-US" dirty="0"/>
              <a:t>Abdulrahman Sirelkhatim </a:t>
            </a:r>
          </a:p>
          <a:p>
            <a:r>
              <a:rPr lang="en-US" dirty="0"/>
              <a:t>MIT Emerging Talent Program - Cohort 6 </a:t>
            </a:r>
          </a:p>
          <a:p>
            <a:r>
              <a:rPr lang="en-US" dirty="0"/>
              <a:t>Capstone Project | 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31C72-FCE0-F2DF-8D0B-C3F5FB51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D0CD7-AA50-A4EC-0DEF-6939CCF64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899" y="-438790"/>
            <a:ext cx="2596202" cy="259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3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D3AF-3FAE-BB20-AAFF-9C563A39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Crisis Context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9517F4B-98C1-C5A8-C0B5-114F0B8A9D9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8" t="19224" r="10782"/>
          <a:stretch>
            <a:fillRect/>
          </a:stretch>
        </p:blipFill>
        <p:spPr>
          <a:xfrm>
            <a:off x="5295331" y="1460642"/>
            <a:ext cx="6373505" cy="393671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D669A-D297-117B-982C-3DDCD6C98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🌍 Ongoing Conflict: Sudan civil war since April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👥 11.1M Internally Displaced - world's largest IDP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🏥 38% of hospitals non-functional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📊 20.3M people require urgent health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⚠️ Challenge: Where are the greatest humanitarian gaps?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7DBB4-462F-178B-BFC9-850D378E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4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3B25-36B3-EFE1-862C-14F75D37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Information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489A-70DC-D3E1-C635-6F9DAB2A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7251" cy="4351338"/>
          </a:xfrm>
        </p:spPr>
        <p:txBody>
          <a:bodyPr>
            <a:normAutofit/>
          </a:bodyPr>
          <a:lstStyle/>
          <a:p>
            <a:r>
              <a:rPr lang="en-US" b="1" dirty="0"/>
              <a:t>The Challenge:</a:t>
            </a:r>
            <a:endParaRPr lang="en-US" dirty="0"/>
          </a:p>
          <a:p>
            <a:pPr lvl="1"/>
            <a:r>
              <a:rPr lang="en-US" dirty="0"/>
              <a:t>Fragmented data across multiple agencies (IOM, WHO, OCHA)</a:t>
            </a:r>
          </a:p>
          <a:p>
            <a:pPr lvl="1"/>
            <a:r>
              <a:rPr lang="en-US" dirty="0"/>
              <a:t>Limited real-time situational awareness</a:t>
            </a:r>
          </a:p>
          <a:p>
            <a:pPr lvl="1"/>
            <a:r>
              <a:rPr lang="en-US" dirty="0"/>
              <a:t>Reactive rather than anticipatory response</a:t>
            </a:r>
          </a:p>
          <a:p>
            <a:pPr lvl="1"/>
            <a:r>
              <a:rPr lang="en-US" dirty="0"/>
              <a:t>No systematic prioritization framework</a:t>
            </a:r>
          </a:p>
          <a:p>
            <a:r>
              <a:rPr lang="en-US" b="1" dirty="0"/>
              <a:t>The Opportunity:</a:t>
            </a:r>
            <a:endParaRPr lang="en-US" dirty="0"/>
          </a:p>
          <a:p>
            <a:pPr lvl="1"/>
            <a:r>
              <a:rPr lang="en-US" dirty="0"/>
              <a:t>Open humanitarian data exists</a:t>
            </a:r>
          </a:p>
          <a:p>
            <a:pPr lvl="1"/>
            <a:r>
              <a:rPr lang="en-US" dirty="0"/>
              <a:t>Geospatial analysis can reveal patterns</a:t>
            </a:r>
          </a:p>
          <a:p>
            <a:pPr lvl="1"/>
            <a:r>
              <a:rPr lang="en-US" dirty="0"/>
              <a:t>Machine learning can validate approaches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E8A33-C908-B373-B103-F074DD65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018C1E-7EF0-4E66-A64E-9F47BA876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5" t="3781" r="6949" b="9931"/>
          <a:stretch>
            <a:fillRect/>
          </a:stretch>
        </p:blipFill>
        <p:spPr>
          <a:xfrm>
            <a:off x="7929350" y="2224777"/>
            <a:ext cx="3564513" cy="355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2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7F8F-F086-F596-E78C-EE3AC64F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8AD5-4C07-DC94-6B53-E13C6E6D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57" y="1825625"/>
            <a:ext cx="10401886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"Can geospatial analysis of structured humanitarian data effectively identify and visualize critical gaps between IDP locations and health facility access?"</a:t>
            </a:r>
          </a:p>
          <a:p>
            <a:pPr marL="0" indent="0" algn="ctr">
              <a:buNone/>
            </a:pPr>
            <a:r>
              <a:rPr lang="en-US" b="1" dirty="0"/>
              <a:t>Hypothesis:</a:t>
            </a:r>
            <a:r>
              <a:rPr lang="en-US" dirty="0"/>
              <a:t> Combining IDP displacement data with facility locations will reveal vulnerability patterns that can guide resource allocation.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0AA21-DD82-C1B3-C6F5-3BD6612B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02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5514-C615-F156-C682-B01B4BE5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4E0B-BC60-FE7E-AD25-7271D49F1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MVP Goals:</a:t>
            </a:r>
            <a:endParaRPr lang="en-US" dirty="0"/>
          </a:p>
          <a:p>
            <a:r>
              <a:rPr lang="en-US" b="1" dirty="0"/>
              <a:t>Map Vulnerability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Calculate accessibility metrics</a:t>
            </a:r>
          </a:p>
          <a:p>
            <a:pPr lvl="1"/>
            <a:r>
              <a:rPr lang="en-US" dirty="0"/>
              <a:t>Generate composite vulnerability scores</a:t>
            </a:r>
          </a:p>
          <a:p>
            <a:r>
              <a:rPr lang="en-US" b="1" dirty="0"/>
              <a:t>Validate Methodology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Statistical rigor (Moran's I, ML)</a:t>
            </a:r>
          </a:p>
          <a:p>
            <a:pPr lvl="1"/>
            <a:r>
              <a:rPr lang="en-US" dirty="0"/>
              <a:t>94%+ accuracy target</a:t>
            </a:r>
          </a:p>
          <a:p>
            <a:r>
              <a:rPr lang="en-US" b="1" dirty="0"/>
              <a:t>Visualize Insights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Interactive dashboard</a:t>
            </a:r>
          </a:p>
          <a:p>
            <a:pPr lvl="1"/>
            <a:r>
              <a:rPr lang="en-US" dirty="0"/>
              <a:t>Actionable recommendations</a:t>
            </a:r>
          </a:p>
          <a:p>
            <a:r>
              <a:rPr lang="en-US" b="1" dirty="0"/>
              <a:t>Establish Scalability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Modular architecture</a:t>
            </a:r>
          </a:p>
          <a:p>
            <a:pPr lvl="1"/>
            <a:r>
              <a:rPr lang="en-US" dirty="0"/>
              <a:t>API-ready framework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F8E8B-2277-EAC4-6C1E-45F3B673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8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462B-4569-E8CD-CA39-F7893D75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8168-095C-EA15-C375-35DC1B2C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15D3AE-1E1E-0981-5FAF-CE72C3CA8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7" b="22156"/>
          <a:stretch>
            <a:fillRect/>
          </a:stretch>
        </p:blipFill>
        <p:spPr>
          <a:xfrm>
            <a:off x="838200" y="1690688"/>
            <a:ext cx="10316838" cy="436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66CA-8E71-E274-1D4D-ECD89083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0944-1230-3F15-391F-3361CEFE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6CB8FD-2290-53AD-7D98-0648DBA32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114379"/>
              </p:ext>
            </p:extLst>
          </p:nvPr>
        </p:nvGraphicFramePr>
        <p:xfrm>
          <a:off x="838199" y="1690688"/>
          <a:ext cx="10401884" cy="146304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600471">
                  <a:extLst>
                    <a:ext uri="{9D8B030D-6E8A-4147-A177-3AD203B41FA5}">
                      <a16:colId xmlns:a16="http://schemas.microsoft.com/office/drawing/2014/main" val="3491950838"/>
                    </a:ext>
                  </a:extLst>
                </a:gridCol>
                <a:gridCol w="2600471">
                  <a:extLst>
                    <a:ext uri="{9D8B030D-6E8A-4147-A177-3AD203B41FA5}">
                      <a16:colId xmlns:a16="http://schemas.microsoft.com/office/drawing/2014/main" val="2630466138"/>
                    </a:ext>
                  </a:extLst>
                </a:gridCol>
                <a:gridCol w="2600471">
                  <a:extLst>
                    <a:ext uri="{9D8B030D-6E8A-4147-A177-3AD203B41FA5}">
                      <a16:colId xmlns:a16="http://schemas.microsoft.com/office/drawing/2014/main" val="4169123836"/>
                    </a:ext>
                  </a:extLst>
                </a:gridCol>
                <a:gridCol w="2600471">
                  <a:extLst>
                    <a:ext uri="{9D8B030D-6E8A-4147-A177-3AD203B41FA5}">
                      <a16:colId xmlns:a16="http://schemas.microsoft.com/office/drawing/2014/main" val="3605731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663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IDP Displacement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IOM DTM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181 localities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April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85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Health Facilities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HOT OSM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1,126 facilities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Nov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0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Admin Boundaries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OCHA COD-AB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189 localities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April 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79560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6BEAC-4A47-B57F-FDBC-94AD9D44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2891B-5EDF-021F-3684-5E046D1FD173}"/>
              </a:ext>
            </a:extLst>
          </p:cNvPr>
          <p:cNvSpPr txBox="1"/>
          <p:nvPr/>
        </p:nvSpPr>
        <p:spPr>
          <a:xfrm>
            <a:off x="3049138" y="3966983"/>
            <a:ext cx="6093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Quality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100% geographic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Validated coordinates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Open humanitarian data licenses</a:t>
            </a:r>
          </a:p>
        </p:txBody>
      </p:sp>
    </p:spTree>
    <p:extLst>
      <p:ext uri="{BB962C8B-B14F-4D97-AF65-F5344CB8AC3E}">
        <p14:creationId xmlns:p14="http://schemas.microsoft.com/office/powerpoint/2010/main" val="204439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44E6-6736-6F9E-4EE5-FBEE2E7E0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F8B09-A341-5CF9-0264-55BD6BD0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188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Phase 1: </a:t>
            </a:r>
            <a:r>
              <a:rPr lang="en-US" sz="2000" dirty="0"/>
              <a:t>Data Preparation ETL + Geocoding 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b="1" dirty="0"/>
              <a:t>Phase 2: </a:t>
            </a:r>
            <a:r>
              <a:rPr lang="en-US" sz="2000" dirty="0"/>
              <a:t>Proximity Analysis, Haversine distances, KD-tree queries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b="1" dirty="0"/>
              <a:t>Phase 3: </a:t>
            </a:r>
            <a:r>
              <a:rPr lang="en-US" sz="2000" dirty="0"/>
              <a:t>Vulnerability Scoring Weighted composite index 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b="1" dirty="0"/>
              <a:t>Phase 4: </a:t>
            </a:r>
            <a:r>
              <a:rPr lang="en-US" sz="2000" dirty="0"/>
              <a:t>Statistical Validation Moran's I, Random Forest, Hypothesis testing </a:t>
            </a:r>
          </a:p>
          <a:p>
            <a:pPr marL="0" indent="0" algn="ctr">
              <a:buNone/>
            </a:pPr>
            <a:r>
              <a:rPr lang="en-US" sz="2000" dirty="0"/>
              <a:t>↓</a:t>
            </a:r>
          </a:p>
          <a:p>
            <a:pPr marL="0" indent="0" algn="ctr">
              <a:buNone/>
            </a:pPr>
            <a:r>
              <a:rPr lang="en-US" sz="2000" b="1" dirty="0"/>
              <a:t>Phase 5: </a:t>
            </a:r>
            <a:r>
              <a:rPr lang="en-US" sz="2000" dirty="0"/>
              <a:t>Dashboard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F234-FA3F-608F-2F7B-6498CC08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2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9052-9B90-89C7-0CC5-89410048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1 -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8B694-B023-9182-C9BF-26F850C78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Challenges Solved:</a:t>
            </a:r>
            <a:endParaRPr lang="en-US" dirty="0"/>
          </a:p>
          <a:p>
            <a:pPr lvl="1"/>
            <a:r>
              <a:rPr lang="en-US" dirty="0"/>
              <a:t>Missing coordinates → Verified 50+ major localities</a:t>
            </a:r>
          </a:p>
          <a:p>
            <a:pPr lvl="1"/>
            <a:r>
              <a:rPr lang="en-US" dirty="0"/>
              <a:t>Arabic facility names → Translated 850+ entries</a:t>
            </a:r>
          </a:p>
          <a:p>
            <a:pPr lvl="1"/>
            <a:r>
              <a:rPr lang="en-US" dirty="0"/>
              <a:t>Inconsistent formats → Standardized schema</a:t>
            </a:r>
          </a:p>
          <a:p>
            <a:r>
              <a:rPr lang="en-US" b="1" dirty="0"/>
              <a:t>Output:</a:t>
            </a:r>
            <a:endParaRPr lang="en-US" dirty="0"/>
          </a:p>
          <a:p>
            <a:pPr lvl="1"/>
            <a:r>
              <a:rPr lang="en-US" dirty="0"/>
              <a:t>181 geocoded localities (6.55M IDPs)</a:t>
            </a:r>
          </a:p>
          <a:p>
            <a:pPr lvl="1"/>
            <a:r>
              <a:rPr lang="en-US" dirty="0"/>
              <a:t>238 critical facilities (hospitals/clinics)</a:t>
            </a:r>
          </a:p>
          <a:p>
            <a:pPr lvl="1"/>
            <a:r>
              <a:rPr lang="en-US" dirty="0"/>
              <a:t>Clean, analysis-ready datasets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0C524-7918-824F-E3C4-CFACA5A9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2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9CA4-D5B3-1373-BA45-F7F1FDE2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2 - Proximity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BFD3-C0B9-76DF-643A-BD9FF44DD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Haversine Distance Formula:</a:t>
            </a:r>
          </a:p>
          <a:p>
            <a:pPr marL="0" indent="0" algn="ctr">
              <a:buNone/>
            </a:pPr>
            <a:r>
              <a:rPr lang="en-US" dirty="0"/>
              <a:t>d = 2R × </a:t>
            </a:r>
            <a:r>
              <a:rPr lang="en-US" dirty="0" err="1"/>
              <a:t>arcsin</a:t>
            </a:r>
            <a:r>
              <a:rPr lang="en-US" dirty="0"/>
              <a:t>(√(sin²(</a:t>
            </a:r>
            <a:r>
              <a:rPr lang="el-GR" dirty="0"/>
              <a:t>Δφ/2) + </a:t>
            </a:r>
            <a:r>
              <a:rPr lang="en-US" dirty="0"/>
              <a:t>cos(</a:t>
            </a:r>
            <a:r>
              <a:rPr lang="el-GR" dirty="0"/>
              <a:t>φ₁)</a:t>
            </a:r>
            <a:r>
              <a:rPr lang="en-US" dirty="0"/>
              <a:t>cos(</a:t>
            </a:r>
            <a:r>
              <a:rPr lang="el-GR" dirty="0"/>
              <a:t>φ₂)</a:t>
            </a:r>
            <a:r>
              <a:rPr lang="en-US" dirty="0"/>
              <a:t>sin²(</a:t>
            </a:r>
            <a:r>
              <a:rPr lang="el-GR" dirty="0"/>
              <a:t>Δλ/2)))</a:t>
            </a:r>
            <a:endParaRPr lang="en-US" dirty="0"/>
          </a:p>
          <a:p>
            <a:r>
              <a:rPr lang="en-US" b="1" dirty="0"/>
              <a:t>Metrics Calculated:</a:t>
            </a:r>
          </a:p>
          <a:p>
            <a:pPr lvl="1"/>
            <a:r>
              <a:rPr lang="en-US" dirty="0"/>
              <a:t>Distance to nearest hospital/clinic</a:t>
            </a:r>
          </a:p>
          <a:p>
            <a:pPr lvl="1"/>
            <a:r>
              <a:rPr lang="en-US" dirty="0"/>
              <a:t>Facility count within 5km, 10km, 20km radii</a:t>
            </a:r>
          </a:p>
          <a:p>
            <a:pPr lvl="1"/>
            <a:r>
              <a:rPr lang="en-US" dirty="0"/>
              <a:t>KD-tree optimization: O(log n) queries</a:t>
            </a:r>
          </a:p>
          <a:p>
            <a:r>
              <a:rPr lang="en-US" b="1" dirty="0"/>
              <a:t>Result: </a:t>
            </a:r>
          </a:p>
          <a:p>
            <a:pPr lvl="1"/>
            <a:r>
              <a:rPr lang="en-US" dirty="0"/>
              <a:t>11 accessibility metrics per locality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EBFE4-B7FA-E40A-89DD-B98E0E4C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EC2B-F75F-1926-98FC-073FA6F8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3 - Vulnerability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7FFE3-DAB6-81CF-8DE4-78590BBD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Composite Score Formula:</a:t>
            </a:r>
          </a:p>
          <a:p>
            <a:pPr marL="0" indent="0" algn="ctr">
              <a:buNone/>
            </a:pPr>
            <a:r>
              <a:rPr lang="en-US" b="1" dirty="0"/>
              <a:t>Vulnerability = </a:t>
            </a:r>
          </a:p>
          <a:p>
            <a:pPr marL="0" indent="0" algn="ctr">
              <a:buNone/>
            </a:pPr>
            <a:r>
              <a:rPr lang="en-US" dirty="0"/>
              <a:t>0.4(IDP Burden) + 0.4(Facility Access) + 0.2(Origin Intensity)</a:t>
            </a:r>
          </a:p>
          <a:p>
            <a:r>
              <a:rPr lang="en-US" b="1" dirty="0"/>
              <a:t>Components:</a:t>
            </a:r>
          </a:p>
          <a:p>
            <a:pPr lvl="1"/>
            <a:r>
              <a:rPr lang="en-US" dirty="0"/>
              <a:t>IDP Burden (40%): Population pressure</a:t>
            </a:r>
          </a:p>
          <a:p>
            <a:pPr lvl="1"/>
            <a:r>
              <a:rPr lang="en-US" dirty="0"/>
              <a:t>Facility Access (40%): Distance + density</a:t>
            </a:r>
          </a:p>
          <a:p>
            <a:pPr lvl="1"/>
            <a:r>
              <a:rPr lang="en-US" dirty="0"/>
              <a:t>Origin Intensity (20%): Conflict displacement</a:t>
            </a:r>
          </a:p>
          <a:p>
            <a:r>
              <a:rPr lang="en-US" b="1" dirty="0"/>
              <a:t>Risk Thresholds:</a:t>
            </a:r>
          </a:p>
          <a:p>
            <a:pPr lvl="1"/>
            <a:r>
              <a:rPr lang="en-US" dirty="0"/>
              <a:t>Critical: ≥80 | High: 60-79 | Moderate: 40-59 | Low: &lt;40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B52F9-8EBB-1D5C-723C-46D95D49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6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F9A5-5785-7456-0E73-EC9DFEE6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4 - 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4453-8CA2-B8B1-627D-BD2DE035C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Spatial Autocorrelation</a:t>
            </a:r>
            <a:endParaRPr lang="en-US" dirty="0"/>
          </a:p>
          <a:p>
            <a:pPr lvl="1"/>
            <a:r>
              <a:rPr lang="en-US" dirty="0"/>
              <a:t>Moran's I = 0.4918 (p &lt; 0.001)</a:t>
            </a:r>
          </a:p>
          <a:p>
            <a:pPr lvl="1"/>
            <a:r>
              <a:rPr lang="en-US" dirty="0"/>
              <a:t>Significant geographic clustering confirmed</a:t>
            </a:r>
          </a:p>
          <a:p>
            <a:r>
              <a:rPr lang="en-US" b="1" dirty="0"/>
              <a:t>Machine Learning</a:t>
            </a:r>
            <a:endParaRPr lang="en-US" dirty="0"/>
          </a:p>
          <a:p>
            <a:pPr lvl="1"/>
            <a:r>
              <a:rPr lang="en-US" dirty="0"/>
              <a:t>Random Forest: 94.6% accuracy</a:t>
            </a:r>
          </a:p>
          <a:p>
            <a:pPr lvl="1"/>
            <a:r>
              <a:rPr lang="en-US" dirty="0"/>
              <a:t>Methodology validated</a:t>
            </a:r>
          </a:p>
          <a:p>
            <a:r>
              <a:rPr lang="en-US" b="1" dirty="0"/>
              <a:t>Hypothesis Testing</a:t>
            </a:r>
            <a:endParaRPr lang="en-US" dirty="0"/>
          </a:p>
          <a:p>
            <a:pPr lvl="1"/>
            <a:r>
              <a:rPr lang="en-US" dirty="0"/>
              <a:t>Darfur vs Non-Darfur: p = 0.0012</a:t>
            </a:r>
          </a:p>
          <a:p>
            <a:pPr lvl="1"/>
            <a:r>
              <a:rPr lang="en-US" dirty="0"/>
              <a:t>Regional differences significant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C937E-EFF1-3F8D-923B-89E03192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8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FB32-066D-FCEE-742D-70C16AE0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 #1 - The Accessibility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6ECA7-3F7A-F9F1-D6F0-F96DBCBEE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86% of localities exceed 20km threshold</a:t>
            </a:r>
            <a:endParaRPr lang="en-US" dirty="0"/>
          </a:p>
          <a:p>
            <a:r>
              <a:rPr lang="en-US" dirty="0"/>
              <a:t>Mean distance: </a:t>
            </a:r>
            <a:r>
              <a:rPr lang="en-US" b="1" dirty="0"/>
              <a:t>88.1km</a:t>
            </a:r>
            <a:r>
              <a:rPr lang="en-US" dirty="0"/>
              <a:t> to nearest hospital</a:t>
            </a:r>
          </a:p>
          <a:p>
            <a:r>
              <a:rPr lang="en-US" b="1" dirty="0"/>
              <a:t>17.6× WHO recommended maximum</a:t>
            </a:r>
            <a:r>
              <a:rPr lang="en-US" dirty="0"/>
              <a:t> (5km)</a:t>
            </a:r>
          </a:p>
          <a:p>
            <a:r>
              <a:rPr lang="en-US" b="1" dirty="0"/>
              <a:t>5.09M IDPs</a:t>
            </a:r>
            <a:r>
              <a:rPr lang="en-US" dirty="0"/>
              <a:t> severely underserved</a:t>
            </a:r>
          </a:p>
          <a:p>
            <a:r>
              <a:rPr lang="en-US" b="1" dirty="0"/>
              <a:t>156 localities</a:t>
            </a:r>
            <a:r>
              <a:rPr lang="en-US" dirty="0"/>
              <a:t> require mobile health clinics</a:t>
            </a:r>
          </a:p>
          <a:p>
            <a:r>
              <a:rPr lang="en-US" b="1" dirty="0"/>
              <a:t>Implication:</a:t>
            </a:r>
            <a:r>
              <a:rPr lang="en-US" dirty="0"/>
              <a:t> Fixed infrastructure expansion insufficient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F92B2-8748-ADE0-CF86-ED19BFDC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9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89B1-7A35-BC39-2403-33295B3D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 #2 - The Darfur Paradox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4615D-448F-1FD9-C624-96CC0D1D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Counterintuitive Result:</a:t>
            </a:r>
            <a:endParaRPr lang="en-US" dirty="0"/>
          </a:p>
          <a:p>
            <a:pPr lvl="1"/>
            <a:r>
              <a:rPr lang="en-US" dirty="0"/>
              <a:t>Darfur vulnerability: 31.90</a:t>
            </a:r>
          </a:p>
          <a:p>
            <a:pPr lvl="1"/>
            <a:r>
              <a:rPr lang="en-US" dirty="0"/>
              <a:t>Non-Darfur vulnerability: 42.33</a:t>
            </a:r>
          </a:p>
          <a:p>
            <a:pPr lvl="1"/>
            <a:r>
              <a:rPr lang="en-US" dirty="0"/>
              <a:t>Statistical difference: p &lt; 0.001</a:t>
            </a:r>
          </a:p>
          <a:p>
            <a:r>
              <a:rPr lang="en-US" b="1" dirty="0"/>
              <a:t>Why?</a:t>
            </a:r>
            <a:endParaRPr lang="en-US" dirty="0"/>
          </a:p>
          <a:p>
            <a:pPr lvl="1"/>
            <a:r>
              <a:rPr lang="en-US" dirty="0"/>
              <a:t>Outward displacement (IDPs fled FROM Darfur)</a:t>
            </a:r>
          </a:p>
          <a:p>
            <a:pPr lvl="1"/>
            <a:r>
              <a:rPr lang="en-US" dirty="0"/>
              <a:t>Receiving regions overwhelmed (River Nile, Red Sea)</a:t>
            </a:r>
          </a:p>
          <a:p>
            <a:pPr lvl="1"/>
            <a:r>
              <a:rPr lang="en-US" dirty="0"/>
              <a:t>Data capture limitations in conflict zones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A9C19-3D3D-3355-3845-C8F53D46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0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3057-1D26-044F-83ED-067237133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 #3 - River Nile Concentration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7C0F2C2-9CBC-C414-33AE-8C4B24171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457053"/>
              </p:ext>
            </p:extLst>
          </p:nvPr>
        </p:nvGraphicFramePr>
        <p:xfrm>
          <a:off x="838200" y="2904014"/>
          <a:ext cx="10401300" cy="219456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133463820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498057703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132055875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711517246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4152978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Locality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042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Shendi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River Nile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73.7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34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Port Sudan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Red Sea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742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Ad Damar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River Nile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289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Atbara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River Nile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899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Ed Damazine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Blue Nile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61.7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94317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323E2-5963-ACE4-D418-6B487B1B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C6FDF31-B20C-1557-E653-224018F08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51961"/>
            <a:ext cx="10401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Most Vulnerable Localities: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of 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in River Nile state (IDP hosting burden)</a:t>
            </a:r>
          </a:p>
        </p:txBody>
      </p:sp>
    </p:spTree>
    <p:extLst>
      <p:ext uri="{BB962C8B-B14F-4D97-AF65-F5344CB8AC3E}">
        <p14:creationId xmlns:p14="http://schemas.microsoft.com/office/powerpoint/2010/main" val="2863743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7DFE-FD69-E1DB-CEF1-C0598D2E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64A78-C19C-622C-C1D7-ADD068B4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Drives Vulnerability?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Validation:</a:t>
            </a:r>
            <a:endParaRPr lang="en-US" dirty="0"/>
          </a:p>
          <a:p>
            <a:pPr lvl="1"/>
            <a:r>
              <a:rPr lang="en-US" dirty="0"/>
              <a:t>94.6% prediction accuracy</a:t>
            </a:r>
          </a:p>
          <a:p>
            <a:pPr lvl="1"/>
            <a:r>
              <a:rPr lang="en-US" dirty="0"/>
              <a:t>Methodology statistically robust</a:t>
            </a:r>
          </a:p>
          <a:p>
            <a:pPr lvl="1"/>
            <a:r>
              <a:rPr lang="en-US" dirty="0"/>
              <a:t>Crisis patterns are quantifiable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98EAC-1B9C-C426-6D9E-A7B90C5D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9DB544-663D-6B79-AC3C-4BD38F76A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184989"/>
              </p:ext>
            </p:extLst>
          </p:nvPr>
        </p:nvGraphicFramePr>
        <p:xfrm>
          <a:off x="838200" y="2538254"/>
          <a:ext cx="10401300" cy="146304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5200650">
                  <a:extLst>
                    <a:ext uri="{9D8B030D-6E8A-4147-A177-3AD203B41FA5}">
                      <a16:colId xmlns:a16="http://schemas.microsoft.com/office/drawing/2014/main" val="3166554440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8347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Importance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3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IDP Burden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38.4%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4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Origin Intensity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34.8%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51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Facility Access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26.8%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704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677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77E1-F968-623B-FD15-C44FE404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5 - Dashboard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3A17-E0B1-6703-A863-5AC3DE21A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Interactive Features:</a:t>
            </a:r>
            <a:endParaRPr lang="en-US" dirty="0"/>
          </a:p>
          <a:p>
            <a:pPr lvl="1"/>
            <a:r>
              <a:rPr lang="en-US" dirty="0"/>
              <a:t>🗺️ Interactive vulnerability map (Folium)</a:t>
            </a:r>
          </a:p>
          <a:p>
            <a:pPr lvl="1"/>
            <a:r>
              <a:rPr lang="en-US" dirty="0"/>
              <a:t>📊 Real-time KPI metrics</a:t>
            </a:r>
          </a:p>
          <a:p>
            <a:pPr lvl="1"/>
            <a:r>
              <a:rPr lang="en-US" dirty="0"/>
              <a:t>📈 Statistical validation charts</a:t>
            </a:r>
          </a:p>
          <a:p>
            <a:pPr lvl="1"/>
            <a:r>
              <a:rPr lang="en-US" dirty="0"/>
              <a:t>📥 Export functionality (CSV, </a:t>
            </a:r>
            <a:r>
              <a:rPr lang="en-US" dirty="0" err="1"/>
              <a:t>GeoJSON</a:t>
            </a:r>
            <a:r>
              <a:rPr lang="en-US" dirty="0"/>
              <a:t>)</a:t>
            </a:r>
          </a:p>
          <a:p>
            <a:r>
              <a:rPr lang="en-US" b="1" dirty="0"/>
              <a:t>Architecture:</a:t>
            </a:r>
            <a:endParaRPr lang="en-US" dirty="0"/>
          </a:p>
          <a:p>
            <a:pPr lvl="1"/>
            <a:r>
              <a:rPr lang="en-US" dirty="0"/>
              <a:t>Modular design (easy to extend)</a:t>
            </a:r>
          </a:p>
          <a:p>
            <a:pPr lvl="1"/>
            <a:r>
              <a:rPr lang="en-US" dirty="0" err="1"/>
              <a:t>Streamlit</a:t>
            </a:r>
            <a:r>
              <a:rPr lang="en-US" dirty="0"/>
              <a:t> framework</a:t>
            </a:r>
          </a:p>
          <a:p>
            <a:pPr lvl="1"/>
            <a:r>
              <a:rPr lang="en-US" dirty="0"/>
              <a:t>Responsive layout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4259A-DF96-E0D1-EE06-D38A1648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6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363A-BE02-999B-2C05-27B42D8B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66198-11E9-2160-780C-7E58115AD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Data Layer (CSV/</a:t>
            </a:r>
            <a:r>
              <a:rPr lang="en-US" dirty="0" err="1"/>
              <a:t>GeoJSON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	↓ </a:t>
            </a:r>
          </a:p>
          <a:p>
            <a:pPr marL="0" indent="0">
              <a:buNone/>
            </a:pPr>
            <a:r>
              <a:rPr lang="en-US" dirty="0"/>
              <a:t>Analysis Engine (Python) </a:t>
            </a:r>
          </a:p>
          <a:p>
            <a:pPr marL="0" indent="0">
              <a:buNone/>
            </a:pPr>
            <a:r>
              <a:rPr lang="en-US" dirty="0"/>
              <a:t>	├─ </a:t>
            </a:r>
            <a:r>
              <a:rPr lang="en-US" dirty="0" err="1"/>
              <a:t>GeoPandas</a:t>
            </a:r>
            <a:r>
              <a:rPr lang="en-US" dirty="0"/>
              <a:t> (spatial ops) </a:t>
            </a:r>
          </a:p>
          <a:p>
            <a:pPr marL="0" indent="0">
              <a:buNone/>
            </a:pPr>
            <a:r>
              <a:rPr lang="en-US" dirty="0"/>
              <a:t>	├─ Scikit-learn (ML) </a:t>
            </a:r>
          </a:p>
          <a:p>
            <a:pPr marL="0" indent="0">
              <a:buNone/>
            </a:pPr>
            <a:r>
              <a:rPr lang="en-US" dirty="0"/>
              <a:t>	└─ </a:t>
            </a:r>
            <a:r>
              <a:rPr lang="en-US" dirty="0" err="1"/>
              <a:t>PySAL</a:t>
            </a:r>
            <a:r>
              <a:rPr lang="en-US" dirty="0"/>
              <a:t> (spatial stats) </a:t>
            </a:r>
          </a:p>
          <a:p>
            <a:pPr marL="0" indent="0">
              <a:buNone/>
            </a:pPr>
            <a:r>
              <a:rPr lang="en-US" dirty="0"/>
              <a:t>		↓ </a:t>
            </a:r>
          </a:p>
          <a:p>
            <a:pPr marL="0" indent="0">
              <a:buNone/>
            </a:pPr>
            <a:r>
              <a:rPr lang="en-US" dirty="0"/>
              <a:t>Visualization Layer </a:t>
            </a:r>
          </a:p>
          <a:p>
            <a:pPr marL="0" indent="0">
              <a:buNone/>
            </a:pPr>
            <a:r>
              <a:rPr lang="en-US" dirty="0"/>
              <a:t>	├─ Folium (interactive maps) </a:t>
            </a:r>
          </a:p>
          <a:p>
            <a:pPr marL="0" indent="0">
              <a:buNone/>
            </a:pPr>
            <a:r>
              <a:rPr lang="en-US" dirty="0"/>
              <a:t>	├─ Plotly (charts) </a:t>
            </a:r>
          </a:p>
          <a:p>
            <a:pPr marL="0" indent="0">
              <a:buNone/>
            </a:pPr>
            <a:r>
              <a:rPr lang="en-US" dirty="0"/>
              <a:t>	└─ </a:t>
            </a:r>
            <a:r>
              <a:rPr lang="en-US" dirty="0" err="1"/>
              <a:t>Streamlit</a:t>
            </a:r>
            <a:r>
              <a:rPr lang="en-US" dirty="0"/>
              <a:t> (dashboard) ↓ User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130BF-B086-E581-C770-3C6753F2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78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60AF-9EC8-F2DF-9141-A1F36BDD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Evolution -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878DE-AEEA-86AC-64A9-27063045D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Challenge 1:</a:t>
            </a:r>
            <a:r>
              <a:rPr lang="en-US" dirty="0"/>
              <a:t> Coordinate Precision</a:t>
            </a:r>
          </a:p>
          <a:p>
            <a:pPr lvl="1"/>
            <a:r>
              <a:rPr lang="en-US" b="1" dirty="0"/>
              <a:t>Problem:</a:t>
            </a:r>
            <a:r>
              <a:rPr lang="en-US" dirty="0"/>
              <a:t> 72% localities lacked exact coordinates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 Manual verification + state-level fallbacks</a:t>
            </a:r>
          </a:p>
          <a:p>
            <a:r>
              <a:rPr lang="en-US" b="1" dirty="0"/>
              <a:t>Challenge 2:</a:t>
            </a:r>
            <a:r>
              <a:rPr lang="en-US" dirty="0"/>
              <a:t> Arabic Translation</a:t>
            </a:r>
          </a:p>
          <a:p>
            <a:pPr lvl="1"/>
            <a:r>
              <a:rPr lang="en-US" b="1" dirty="0"/>
              <a:t>Problem:</a:t>
            </a:r>
            <a:r>
              <a:rPr lang="en-US" dirty="0"/>
              <a:t> 850+ facility names in Arabic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 deep-translator integration (batch processing)</a:t>
            </a:r>
          </a:p>
          <a:p>
            <a:r>
              <a:rPr lang="en-US" b="1" dirty="0"/>
              <a:t>Challenge 3:</a:t>
            </a:r>
            <a:r>
              <a:rPr lang="en-US" dirty="0"/>
              <a:t> Statistical Validation</a:t>
            </a:r>
          </a:p>
          <a:p>
            <a:pPr lvl="1"/>
            <a:r>
              <a:rPr lang="en-US" b="1" dirty="0"/>
              <a:t>Problem:</a:t>
            </a:r>
            <a:r>
              <a:rPr lang="en-US" dirty="0"/>
              <a:t> No ground truth for "vulnerability"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 ML cross-validation + spatial autocorrelation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A9218-01FA-A278-01FB-D6CFBB08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29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D256-747D-008A-773F-AC618CDD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7EEB-C064-6319-10B1-780A86B6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Current Limitations:</a:t>
            </a:r>
            <a:endParaRPr lang="en-US" dirty="0"/>
          </a:p>
          <a:p>
            <a:pPr lvl="1"/>
            <a:r>
              <a:rPr lang="en-US" dirty="0"/>
              <a:t>Single time-point analysis (April 2024)</a:t>
            </a:r>
          </a:p>
          <a:p>
            <a:pPr lvl="1"/>
            <a:r>
              <a:rPr lang="en-US" dirty="0"/>
              <a:t>Assumes operational facilities</a:t>
            </a:r>
          </a:p>
          <a:p>
            <a:pPr lvl="1"/>
            <a:r>
              <a:rPr lang="en-US" dirty="0"/>
              <a:t>Euclidean distance (not road networks)</a:t>
            </a:r>
          </a:p>
          <a:p>
            <a:pPr lvl="1"/>
            <a:r>
              <a:rPr lang="en-US" dirty="0"/>
              <a:t>~70% approximate coordinates</a:t>
            </a:r>
          </a:p>
          <a:p>
            <a:r>
              <a:rPr lang="en-US" b="1" dirty="0"/>
              <a:t>Future Enhancements:</a:t>
            </a:r>
            <a:endParaRPr lang="en-US" dirty="0"/>
          </a:p>
          <a:p>
            <a:pPr lvl="1"/>
            <a:r>
              <a:rPr lang="en-US" dirty="0"/>
              <a:t>Real-time API integration (live IDP data)</a:t>
            </a:r>
          </a:p>
          <a:p>
            <a:pPr lvl="1"/>
            <a:r>
              <a:rPr lang="en-US" dirty="0"/>
              <a:t>Time-series displacement tracking</a:t>
            </a:r>
          </a:p>
          <a:p>
            <a:pPr lvl="1"/>
            <a:r>
              <a:rPr lang="en-US" dirty="0"/>
              <a:t>Road network analysis (OSM)</a:t>
            </a:r>
          </a:p>
          <a:p>
            <a:pPr lvl="1"/>
            <a:r>
              <a:rPr lang="en-US" dirty="0"/>
              <a:t>NLP rumor tracking module</a:t>
            </a:r>
          </a:p>
          <a:p>
            <a:pPr lvl="1"/>
            <a:r>
              <a:rPr lang="en-US" dirty="0"/>
              <a:t>Facility capacity data (</a:t>
            </a:r>
            <a:r>
              <a:rPr lang="en-US" dirty="0" err="1"/>
              <a:t>HeRAMS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A314F-A8BA-0DBB-CD2D-FFE72F85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25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1E9B-0AE0-4F48-CCA9-3884F5AB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590E-6EE9-DC9D-F8AB-7C4415333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Immediate Actions:</a:t>
            </a:r>
            <a:endParaRPr lang="en-US" dirty="0"/>
          </a:p>
          <a:p>
            <a:pPr lvl="1"/>
            <a:r>
              <a:rPr lang="en-US" dirty="0"/>
              <a:t>Deploy mobile clinics to River Nile/Red Sea</a:t>
            </a:r>
          </a:p>
          <a:p>
            <a:pPr lvl="1"/>
            <a:r>
              <a:rPr lang="en-US" dirty="0"/>
              <a:t>Prioritize 156 localities beyond 20km</a:t>
            </a:r>
          </a:p>
          <a:p>
            <a:pPr lvl="1"/>
            <a:r>
              <a:rPr lang="en-US" dirty="0"/>
              <a:t>Monitor Port Sudan IDP influx</a:t>
            </a:r>
          </a:p>
          <a:p>
            <a:r>
              <a:rPr lang="en-US" b="1" dirty="0"/>
              <a:t>Strategic Recommendations:</a:t>
            </a:r>
            <a:endParaRPr lang="en-US" dirty="0"/>
          </a:p>
          <a:p>
            <a:pPr lvl="1"/>
            <a:r>
              <a:rPr lang="en-US" dirty="0"/>
              <a:t>Shift from reactive → anticipatory response</a:t>
            </a:r>
          </a:p>
          <a:p>
            <a:pPr lvl="1"/>
            <a:r>
              <a:rPr lang="en-US" dirty="0"/>
              <a:t>Integrate geospatial analysis into planning</a:t>
            </a:r>
          </a:p>
          <a:p>
            <a:pPr lvl="1"/>
            <a:r>
              <a:rPr lang="en-US" dirty="0"/>
              <a:t>Establish real-time monitoring systems</a:t>
            </a:r>
          </a:p>
          <a:p>
            <a:r>
              <a:rPr lang="en-US" b="1" dirty="0"/>
              <a:t>Policy:</a:t>
            </a:r>
            <a:r>
              <a:rPr lang="en-US" dirty="0"/>
              <a:t> Non-Darfur regions require urgent focus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D7092-9BD2-23D2-9FE2-19C9EF3A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70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3DA6-8C29-80F0-298E-47B037FB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9979A-5714-6523-3516-03FED6FE7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Technical Skills:</a:t>
            </a:r>
            <a:endParaRPr lang="en-US" dirty="0"/>
          </a:p>
          <a:p>
            <a:pPr lvl="1"/>
            <a:r>
              <a:rPr lang="en-US" dirty="0"/>
              <a:t>Advanced geospatial analysis (</a:t>
            </a:r>
            <a:r>
              <a:rPr lang="en-US" dirty="0" err="1"/>
              <a:t>GeoPandas</a:t>
            </a:r>
            <a:r>
              <a:rPr lang="en-US" dirty="0"/>
              <a:t>, spatial stats)</a:t>
            </a:r>
          </a:p>
          <a:p>
            <a:pPr lvl="1"/>
            <a:r>
              <a:rPr lang="en-US" dirty="0"/>
              <a:t>Machine learning validation (Scikit-learn, </a:t>
            </a:r>
            <a:r>
              <a:rPr lang="en-US" dirty="0" err="1"/>
              <a:t>PySAL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Data visualization (Folium, Plotly, 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ETL pipeline development</a:t>
            </a:r>
          </a:p>
          <a:p>
            <a:pPr lvl="1"/>
            <a:r>
              <a:rPr lang="en-US" dirty="0"/>
              <a:t>Statistical hypothesis testing</a:t>
            </a:r>
          </a:p>
          <a:p>
            <a:r>
              <a:rPr lang="en-US" b="1" dirty="0"/>
              <a:t>Soft Skills:</a:t>
            </a:r>
            <a:endParaRPr lang="en-US" dirty="0"/>
          </a:p>
          <a:p>
            <a:pPr lvl="1"/>
            <a:r>
              <a:rPr lang="en-US" dirty="0"/>
              <a:t>Complex problem framing</a:t>
            </a:r>
          </a:p>
          <a:p>
            <a:pPr lvl="1"/>
            <a:r>
              <a:rPr lang="en-US" dirty="0"/>
              <a:t>Stakeholder communication</a:t>
            </a:r>
          </a:p>
          <a:p>
            <a:pPr lvl="1"/>
            <a:r>
              <a:rPr lang="en-US" dirty="0"/>
              <a:t>Ethical </a:t>
            </a:r>
            <a:r>
              <a:rPr lang="en-US"/>
              <a:t>data governance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27F5A-A4B2-1778-B0D7-41C0BC0E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9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108F-2B1D-13F2-D6E6-A9398085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4EA8B-31E2-7ED8-1FCA-8469C94B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 is Never Clean</a:t>
            </a:r>
            <a:endParaRPr lang="en-US" dirty="0"/>
          </a:p>
          <a:p>
            <a:pPr lvl="1"/>
            <a:r>
              <a:rPr lang="en-US" dirty="0"/>
              <a:t>Real humanitarian data requires creativity</a:t>
            </a:r>
          </a:p>
          <a:p>
            <a:pPr lvl="1"/>
            <a:r>
              <a:rPr lang="en-US" dirty="0"/>
              <a:t>80% of time spent on data preparation</a:t>
            </a:r>
          </a:p>
          <a:p>
            <a:pPr lvl="1"/>
            <a:r>
              <a:rPr lang="en-US" dirty="0"/>
              <a:t>Verification &gt; perfection</a:t>
            </a:r>
          </a:p>
          <a:p>
            <a:r>
              <a:rPr lang="en-US" b="1" dirty="0"/>
              <a:t>Methodology Matters</a:t>
            </a:r>
            <a:endParaRPr lang="en-US" dirty="0"/>
          </a:p>
          <a:p>
            <a:pPr lvl="1"/>
            <a:r>
              <a:rPr lang="en-US" dirty="0"/>
              <a:t>Statistical validation builds trust</a:t>
            </a:r>
          </a:p>
          <a:p>
            <a:pPr lvl="1"/>
            <a:r>
              <a:rPr lang="en-US" dirty="0"/>
              <a:t>94.6% accuracy legitimizes findings</a:t>
            </a:r>
          </a:p>
          <a:p>
            <a:pPr lvl="1"/>
            <a:r>
              <a:rPr lang="en-US" dirty="0"/>
              <a:t>Transparency is essential</a:t>
            </a:r>
          </a:p>
          <a:p>
            <a:r>
              <a:rPr lang="en-US" b="1" dirty="0"/>
              <a:t>Communication is Key</a:t>
            </a:r>
            <a:endParaRPr lang="en-US" dirty="0"/>
          </a:p>
          <a:p>
            <a:pPr lvl="1"/>
            <a:r>
              <a:rPr lang="en-US" dirty="0"/>
              <a:t>Technical rigor ≠ impact without storytelling</a:t>
            </a:r>
          </a:p>
          <a:p>
            <a:pPr lvl="1"/>
            <a:r>
              <a:rPr lang="en-US" dirty="0"/>
              <a:t>Dashboard makes analysis actionable</a:t>
            </a:r>
          </a:p>
          <a:p>
            <a:pPr lvl="1"/>
            <a:r>
              <a:rPr lang="en-US" dirty="0"/>
              <a:t>Modular design enables evolution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5A9E1-2E53-7919-FE5B-15BE3EDC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1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35A1-BF27-66EF-18E7-87CF933D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4B4F0-A9D6-823A-09FE-72C14A07B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Repository Structure:</a:t>
            </a:r>
          </a:p>
          <a:p>
            <a:pPr marL="0" indent="0">
              <a:buNone/>
            </a:pPr>
            <a:r>
              <a:rPr lang="en-US" dirty="0"/>
              <a:t>├── 1_datasets/          (Data documentation)</a:t>
            </a:r>
          </a:p>
          <a:p>
            <a:pPr marL="0" indent="0">
              <a:buNone/>
            </a:pPr>
            <a:r>
              <a:rPr lang="en-US" dirty="0"/>
              <a:t>├── 2_data_preparation/  (ETL scripts)</a:t>
            </a:r>
          </a:p>
          <a:p>
            <a:pPr marL="0" indent="0">
              <a:buNone/>
            </a:pPr>
            <a:r>
              <a:rPr lang="en-US" dirty="0"/>
              <a:t>├── 3_data_exploration/  (EDA notebooks)</a:t>
            </a:r>
          </a:p>
          <a:p>
            <a:pPr marL="0" indent="0">
              <a:buNone/>
            </a:pPr>
            <a:r>
              <a:rPr lang="en-US" dirty="0"/>
              <a:t>├── 4_data_analysis/     (Geospatial + ML)</a:t>
            </a:r>
          </a:p>
          <a:p>
            <a:pPr marL="0" indent="0">
              <a:buNone/>
            </a:pPr>
            <a:r>
              <a:rPr lang="en-US" dirty="0"/>
              <a:t>└── 5_dashboard/         (</a:t>
            </a:r>
            <a:r>
              <a:rPr lang="en-US" dirty="0" err="1"/>
              <a:t>Streamlit</a:t>
            </a:r>
            <a:r>
              <a:rPr lang="en-US" dirty="0"/>
              <a:t> app)</a:t>
            </a:r>
          </a:p>
          <a:p>
            <a:r>
              <a:rPr lang="en-US" b="1" dirty="0"/>
              <a:t>Reproducibility:</a:t>
            </a:r>
          </a:p>
          <a:p>
            <a:pPr lvl="1"/>
            <a:r>
              <a:rPr lang="en-US" dirty="0"/>
              <a:t>Full documentation</a:t>
            </a:r>
          </a:p>
          <a:p>
            <a:pPr lvl="1"/>
            <a:r>
              <a:rPr lang="en-US" dirty="0"/>
              <a:t>Requirements.txt</a:t>
            </a:r>
          </a:p>
          <a:p>
            <a:pPr lvl="1"/>
            <a:r>
              <a:rPr lang="en-US" dirty="0"/>
              <a:t>MIT License</a:t>
            </a:r>
          </a:p>
          <a:p>
            <a:pPr lvl="1"/>
            <a:r>
              <a:rPr lang="en-US" dirty="0"/>
              <a:t>CI/CD pipeline (GitHub Actions)</a:t>
            </a:r>
          </a:p>
          <a:p>
            <a:pPr algn="just"/>
            <a:r>
              <a:rPr lang="en-US" b="1" dirty="0"/>
              <a:t>Access: </a:t>
            </a:r>
            <a:r>
              <a:rPr lang="en-US" dirty="0">
                <a:hlinkClick r:id="rId2"/>
              </a:rPr>
              <a:t>GitHub Repository Link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8F233-FBD4-4844-0CE2-CAA38C71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43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6970-670D-446A-EA45-7CC7B104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BB4E0-5449-C7EC-9B10-57E86249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7412"/>
            <a:ext cx="9144000" cy="2387600"/>
          </a:xfrm>
        </p:spPr>
        <p:txBody>
          <a:bodyPr>
            <a:noAutofit/>
          </a:bodyPr>
          <a:lstStyle/>
          <a:p>
            <a:r>
              <a:rPr lang="fr-FR" sz="4800" dirty="0"/>
              <a:t>Thank You</a:t>
            </a:r>
            <a:br>
              <a:rPr lang="fr-FR" sz="4800" dirty="0"/>
            </a:br>
            <a:br>
              <a:rPr lang="fr-FR" sz="4800" dirty="0"/>
            </a:br>
            <a:r>
              <a:rPr lang="fr-FR" sz="3600" dirty="0"/>
              <a:t>Humanitarian Crisis Intelligence &amp; Communication System (HCICS)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C18E3-2A71-B841-530B-56009E02B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588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Abdulrahman Sirelkhatim Tagalsir Ali</a:t>
            </a:r>
          </a:p>
          <a:p>
            <a:r>
              <a:rPr lang="en-US" dirty="0"/>
              <a:t>Email: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abdulrahmanalsir4@gmail.com</a:t>
            </a:r>
            <a:r>
              <a:rPr lang="en-US" dirty="0"/>
              <a:t> </a:t>
            </a:r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dirty="0"/>
              <a:t> |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8593F-0B17-318D-891E-0BCB3C7A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70C97-8CA8-0ADC-0C72-6ECF2CBE0B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899" y="-438790"/>
            <a:ext cx="2596202" cy="259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84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FFAE-1EDC-8AA7-1BE6-B63395022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9F982-2518-7830-6D9A-9A59CC41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E215-56CB-44C9-AFFD-7788C360CC1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22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1E40AF"/>
      </a:dk1>
      <a:lt1>
        <a:srgbClr val="F8FAFC"/>
      </a:lt1>
      <a:dk2>
        <a:srgbClr val="64748B"/>
      </a:dk2>
      <a:lt2>
        <a:srgbClr val="E7E6E6"/>
      </a:lt2>
      <a:accent1>
        <a:srgbClr val="3B82F6"/>
      </a:accent1>
      <a:accent2>
        <a:srgbClr val="F59E0B"/>
      </a:accent2>
      <a:accent3>
        <a:srgbClr val="10B98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HCICS Fon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1259</Words>
  <Application>Microsoft Office PowerPoint</Application>
  <PresentationFormat>Widescreen</PresentationFormat>
  <Paragraphs>298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Arial Black</vt:lpstr>
      <vt:lpstr>Calibri</vt:lpstr>
      <vt:lpstr>Office Theme</vt:lpstr>
      <vt:lpstr>Humanitarian Crisis Intelligence &amp; Communication System (HCICS)</vt:lpstr>
      <vt:lpstr>The Crisis Context</vt:lpstr>
      <vt:lpstr>The Information Problem</vt:lpstr>
      <vt:lpstr>Research Question</vt:lpstr>
      <vt:lpstr>Project Objectives</vt:lpstr>
      <vt:lpstr>Data Sources</vt:lpstr>
      <vt:lpstr>Data Sources</vt:lpstr>
      <vt:lpstr>Methodology Overview</vt:lpstr>
      <vt:lpstr>Phase 1 - Data Preparation</vt:lpstr>
      <vt:lpstr>Phase 2 - Proximity Analysis</vt:lpstr>
      <vt:lpstr>Phase 3 - Vulnerability Index</vt:lpstr>
      <vt:lpstr>Phase 4 - Statistical Validation</vt:lpstr>
      <vt:lpstr>Key Finding #1 - The Accessibility Crisis</vt:lpstr>
      <vt:lpstr>Key Finding #2 - The Darfur Paradox</vt:lpstr>
      <vt:lpstr>Key Finding #3 - River Nile Concentration</vt:lpstr>
      <vt:lpstr>Machine Learning Insights</vt:lpstr>
      <vt:lpstr>Phase 5 - Dashboard Communication</vt:lpstr>
      <vt:lpstr>Technical Architecture</vt:lpstr>
      <vt:lpstr>Project Evolution - Challenges</vt:lpstr>
      <vt:lpstr>Limitations &amp; Future Work</vt:lpstr>
      <vt:lpstr>Impact &amp; Recommendations</vt:lpstr>
      <vt:lpstr>Skills Developed</vt:lpstr>
      <vt:lpstr>Lessons Learned</vt:lpstr>
      <vt:lpstr>Open Source Contribution</vt:lpstr>
      <vt:lpstr>Thank You  Humanitarian Crisis Intelligence &amp; Communication System (HCICS)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Rahman</dc:creator>
  <cp:lastModifiedBy>Abdul Rahman</cp:lastModifiedBy>
  <cp:revision>53</cp:revision>
  <dcterms:created xsi:type="dcterms:W3CDTF">2025-12-07T20:00:44Z</dcterms:created>
  <dcterms:modified xsi:type="dcterms:W3CDTF">2025-12-07T20:41:28Z</dcterms:modified>
</cp:coreProperties>
</file>